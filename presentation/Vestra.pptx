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463040"/>
            <a:ext cx="4023360" cy="4023360"/>
          </a:xfrm>
          <a:prstGeom prst="ellipse">
            <a:avLst/>
          </a:prstGeom>
          <a:noFill/>
          <a:ln w="28575">
            <a:solidFill>
              <a:srgbClr val="F2953F">
                <a:alpha val="1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5212080"/>
            <a:ext cx="2743200" cy="2743200"/>
          </a:xfrm>
          <a:prstGeom prst="ellipse">
            <a:avLst/>
          </a:prstGeom>
          <a:noFill/>
          <a:ln w="28575">
            <a:solidFill>
              <a:srgbClr val="F2953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FASHION, AGGREGATED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107899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F3EBDD"/>
                </a:solidFill>
                <a:latin typeface="Georgia"/>
              </a:rPr>
              <a:t>Vestra</a:t>
            </a:r>
            <a:r>
              <a:rPr sz="120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93008"/>
            <a:ext cx="9144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3EBDD"/>
                </a:solidFill>
                <a:latin typeface="Calibri"/>
              </a:rPr>
              <a:t>One closet. Every store.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206240"/>
            <a:ext cx="3383280" cy="64008"/>
          </a:xfrm>
          <a:prstGeom prst="rect">
            <a:avLst/>
          </a:prstGeom>
          <a:gradFill rotWithShape="1">
            <a:gsLst>
              <a:gs pos="0">
                <a:srgbClr val="F2953F"/>
              </a:gs>
              <a:gs pos="100000">
                <a:srgbClr val="F2953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62272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B3A690"/>
                </a:solidFill>
                <a:latin typeface="Calibri"/>
              </a:rPr>
              <a:t>Browse fashion in one place — and always buy at the best price across India's biggest stores.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532120"/>
            <a:ext cx="1271016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Amazon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5532120"/>
            <a:ext cx="1536192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Flipkart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0791" y="5532120"/>
            <a:ext cx="1271016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Myntra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2975" y="5532120"/>
            <a:ext cx="100584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Ajio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9983" y="5532120"/>
            <a:ext cx="166878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Tata CLiQ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50" decel="6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decel="6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385" fill="hold"/>
                                        <p:tgtEl>
                                          <p:spTgt spid="9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0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23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385" fill="hold"/>
                                        <p:tgtEl>
                                          <p:spTgt spid="10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5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3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85" fill="hold"/>
                                        <p:tgtEl>
                                          <p:spTgt spid="1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0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3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85" fill="hold"/>
                                        <p:tgtEl>
                                          <p:spTgt spid="12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5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385" fill="hold"/>
                                        <p:tgtEl>
                                          <p:spTgt spid="13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50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Vestra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3EBDD"/>
                </a:solidFill>
                <a:latin typeface="Georgia"/>
              </a:rPr>
              <a:t>The same jacket,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1">
                <a:solidFill>
                  <a:srgbClr val="F2953F"/>
                </a:solidFill>
                <a:latin typeface="Georgia"/>
              </a:rPr>
              <a:t>five different prices.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41248" y="3200400"/>
            <a:ext cx="2450592" cy="1828800"/>
            <a:chOff x="841248" y="3200400"/>
            <a:chExt cx="2450592" cy="1828800"/>
          </a:xfrm>
        </p:grpSpPr>
        <p:sp>
          <p:nvSpPr>
            <p:cNvPr id="8" name="Rounded Rectangle 7"/>
            <p:cNvSpPr/>
            <p:nvPr/>
          </p:nvSpPr>
          <p:spPr>
            <a:xfrm>
              <a:off x="841248" y="3200400"/>
              <a:ext cx="2450592" cy="1828800"/>
            </a:xfrm>
            <a:prstGeom prst="roundRect">
              <a:avLst>
                <a:gd name="adj" fmla="val 10000"/>
              </a:avLst>
            </a:prstGeom>
            <a:solidFill>
              <a:srgbClr val="261F16"/>
            </a:solidFill>
            <a:ln w="12700">
              <a:solidFill>
                <a:srgbClr val="453B2D"/>
              </a:solidFill>
            </a:ln>
            <a:effectLst>
              <a:outerShdw blurRad="177800" dist="63500" dir="5400000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042416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225296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408176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42416" y="3675887"/>
              <a:ext cx="21031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1" i="0">
                  <a:solidFill>
                    <a:srgbClr val="B3A690"/>
                  </a:solidFill>
                  <a:latin typeface="Calibri"/>
                </a:rPr>
                <a:t>Amazon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2416" y="4041648"/>
              <a:ext cx="21031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300" b="1" i="0">
                  <a:solidFill>
                    <a:srgbClr val="F3EBDD"/>
                  </a:solidFill>
                  <a:latin typeface="Georgia"/>
                </a:rPr>
                <a:t>₹1,540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520440" y="3200400"/>
            <a:ext cx="2450592" cy="1828800"/>
            <a:chOff x="3520440" y="3200400"/>
            <a:chExt cx="2450592" cy="1828800"/>
          </a:xfrm>
        </p:grpSpPr>
        <p:sp>
          <p:nvSpPr>
            <p:cNvPr id="15" name="Rounded Rectangle 14"/>
            <p:cNvSpPr/>
            <p:nvPr/>
          </p:nvSpPr>
          <p:spPr>
            <a:xfrm>
              <a:off x="3520440" y="3200400"/>
              <a:ext cx="2450592" cy="1828800"/>
            </a:xfrm>
            <a:prstGeom prst="roundRect">
              <a:avLst>
                <a:gd name="adj" fmla="val 10000"/>
              </a:avLst>
            </a:prstGeom>
            <a:solidFill>
              <a:srgbClr val="261F16"/>
            </a:solidFill>
            <a:ln w="12700">
              <a:solidFill>
                <a:srgbClr val="453B2D"/>
              </a:solidFill>
            </a:ln>
            <a:effectLst>
              <a:outerShdw blurRad="177800" dist="63500" dir="5400000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3721608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3904488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4087368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21608" y="3675887"/>
              <a:ext cx="21031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1" i="0">
                  <a:solidFill>
                    <a:srgbClr val="B3A690"/>
                  </a:solidFill>
                  <a:latin typeface="Calibri"/>
                </a:rPr>
                <a:t>Flipkart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21608" y="4041648"/>
              <a:ext cx="21031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300" b="1" i="0">
                  <a:solidFill>
                    <a:srgbClr val="F3EBDD"/>
                  </a:solidFill>
                  <a:latin typeface="Georgia"/>
                </a:rPr>
                <a:t>₹1,610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199632" y="3200400"/>
            <a:ext cx="2450592" cy="1828800"/>
            <a:chOff x="6199632" y="3200400"/>
            <a:chExt cx="2450592" cy="1828800"/>
          </a:xfrm>
        </p:grpSpPr>
        <p:sp>
          <p:nvSpPr>
            <p:cNvPr id="22" name="Rounded Rectangle 21"/>
            <p:cNvSpPr/>
            <p:nvPr/>
          </p:nvSpPr>
          <p:spPr>
            <a:xfrm>
              <a:off x="6199632" y="3200400"/>
              <a:ext cx="2450592" cy="1828800"/>
            </a:xfrm>
            <a:prstGeom prst="roundRect">
              <a:avLst>
                <a:gd name="adj" fmla="val 10000"/>
              </a:avLst>
            </a:prstGeom>
            <a:solidFill>
              <a:srgbClr val="261F16"/>
            </a:solidFill>
            <a:ln w="27940">
              <a:solidFill>
                <a:srgbClr val="F2953F"/>
              </a:solidFill>
            </a:ln>
            <a:effectLst>
              <a:glow rad="152400">
                <a:srgbClr val="F2953F">
                  <a:alpha val="38000"/>
                </a:srgbClr>
              </a:glow>
              <a:outerShdw blurRad="177800" dist="63500" dir="5400000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400800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583680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6766560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00800" y="3675887"/>
              <a:ext cx="21031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1" i="0">
                  <a:solidFill>
                    <a:srgbClr val="B3A690"/>
                  </a:solidFill>
                  <a:latin typeface="Calibri"/>
                </a:rPr>
                <a:t>Myntra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00800" y="4041648"/>
              <a:ext cx="21031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300" b="1" i="0">
                  <a:solidFill>
                    <a:srgbClr val="F2953F"/>
                  </a:solidFill>
                  <a:latin typeface="Georgia"/>
                </a:rPr>
                <a:t>₹1,499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878824" y="3200400"/>
            <a:ext cx="2450592" cy="1828800"/>
            <a:chOff x="8878824" y="3200400"/>
            <a:chExt cx="2450592" cy="1828800"/>
          </a:xfrm>
        </p:grpSpPr>
        <p:sp>
          <p:nvSpPr>
            <p:cNvPr id="29" name="Rounded Rectangle 28"/>
            <p:cNvSpPr/>
            <p:nvPr/>
          </p:nvSpPr>
          <p:spPr>
            <a:xfrm>
              <a:off x="8878824" y="3200400"/>
              <a:ext cx="2450592" cy="1828800"/>
            </a:xfrm>
            <a:prstGeom prst="roundRect">
              <a:avLst>
                <a:gd name="adj" fmla="val 10000"/>
              </a:avLst>
            </a:prstGeom>
            <a:solidFill>
              <a:srgbClr val="261F16"/>
            </a:solidFill>
            <a:ln w="12700">
              <a:solidFill>
                <a:srgbClr val="453B2D"/>
              </a:solidFill>
            </a:ln>
            <a:effectLst>
              <a:outerShdw blurRad="177800" dist="63500" dir="5400000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9079992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9262872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9445752" y="3401568"/>
              <a:ext cx="91440" cy="91440"/>
            </a:xfrm>
            <a:prstGeom prst="ellipse">
              <a:avLst/>
            </a:prstGeom>
            <a:solidFill>
              <a:srgbClr val="8A7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079992" y="3675887"/>
              <a:ext cx="21031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1" i="0">
                  <a:solidFill>
                    <a:srgbClr val="B3A690"/>
                  </a:solidFill>
                  <a:latin typeface="Calibri"/>
                </a:rPr>
                <a:t>Tata CLiQ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079992" y="4041648"/>
              <a:ext cx="21031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300" b="1" i="0">
                  <a:solidFill>
                    <a:srgbClr val="F3EBDD"/>
                  </a:solidFill>
                  <a:latin typeface="Georgia"/>
                </a:rPr>
                <a:t>₹1,585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841248" y="54406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B3A690"/>
                </a:solidFill>
                <a:latin typeface="Calibri"/>
              </a:rPr>
              <a:t>So which is cheapest? Today you open five tabs and check by hand — and still might overpay.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decel="6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6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6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6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65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50" decel="6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4" grpId="0"/>
      <p:bldP spid="21" grpId="0"/>
      <p:bldP spid="28" grpId="0"/>
      <p:bldP spid="35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Vestra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3EBDD"/>
                </a:solidFill>
                <a:latin typeface="Georgia"/>
              </a:rPr>
              <a:t>Browse once. We find the best price.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28616" y="2103120"/>
            <a:ext cx="2331720" cy="621792"/>
          </a:xfrm>
          <a:prstGeom prst="roundRect">
            <a:avLst>
              <a:gd name="adj" fmla="val 34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F3EBDD"/>
                </a:solidFill>
                <a:latin typeface="Calibri"/>
              </a:rPr>
              <a:t>🧑  A shopper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8" y="2798064"/>
            <a:ext cx="0" cy="493776"/>
          </a:xfrm>
          <a:prstGeom prst="line">
            <a:avLst/>
          </a:prstGeom>
          <a:ln w="2540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53128" y="3364992"/>
            <a:ext cx="3291840" cy="100584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F2953F"/>
              </a:gs>
              <a:gs pos="100000">
                <a:srgbClr val="DF7226"/>
              </a:gs>
            </a:gsLst>
            <a:lin ang="8100000" scaled="1"/>
          </a:gradFill>
          <a:ln>
            <a:noFill/>
          </a:ln>
          <a:effectLst>
            <a:glow rad="203200">
              <a:srgbClr val="F2953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3000" b="1" i="0">
                <a:solidFill>
                  <a:srgbClr val="1A120A"/>
                </a:solidFill>
                <a:latin typeface="Georgia"/>
              </a:rPr>
              <a:t>Vestra</a:t>
            </a:r>
          </a:p>
          <a:p>
            <a:pPr algn="ctr"/>
            <a:r>
              <a:rPr sz="1300" b="1" i="0">
                <a:solidFill>
                  <a:srgbClr val="1A120A"/>
                </a:solidFill>
                <a:latin typeface="Calibri"/>
              </a:rPr>
              <a:t>one place to browse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526280"/>
            <a:ext cx="5788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8A7D69"/>
                </a:solidFill>
                <a:latin typeface="Calibri"/>
              </a:rPr>
              <a:t>↓  links you to the cheapest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13635" y="5120640"/>
            <a:ext cx="1335024" cy="585216"/>
          </a:xfrm>
          <a:prstGeom prst="roundRect">
            <a:avLst>
              <a:gd name="adj" fmla="val 5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01600" dist="381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9900"/>
                </a:solidFill>
                <a:latin typeface="Calibri"/>
              </a:rPr>
              <a:t>Amazon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8115" y="5120640"/>
            <a:ext cx="1609344" cy="585216"/>
          </a:xfrm>
          <a:prstGeom prst="roundRect">
            <a:avLst>
              <a:gd name="adj" fmla="val 5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01600" dist="381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4A9BFF"/>
                </a:solidFill>
                <a:latin typeface="Calibri"/>
              </a:rPr>
              <a:t>Flipkart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96915" y="5120640"/>
            <a:ext cx="1335024" cy="585216"/>
          </a:xfrm>
          <a:prstGeom prst="roundRect">
            <a:avLst>
              <a:gd name="adj" fmla="val 5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01600" dist="381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5F8F"/>
                </a:solidFill>
                <a:latin typeface="Calibri"/>
              </a:rPr>
              <a:t>Myntra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51395" y="5120640"/>
            <a:ext cx="1060704" cy="585216"/>
          </a:xfrm>
          <a:prstGeom prst="roundRect">
            <a:avLst>
              <a:gd name="adj" fmla="val 5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01600" dist="381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9CB4C4"/>
                </a:solidFill>
                <a:latin typeface="Calibri"/>
              </a:rPr>
              <a:t>Ajio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1555" y="5120640"/>
            <a:ext cx="1746504" cy="585216"/>
          </a:xfrm>
          <a:prstGeom prst="roundRect">
            <a:avLst>
              <a:gd name="adj" fmla="val 5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01600" dist="381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6B63"/>
                </a:solidFill>
                <a:latin typeface="Calibri"/>
              </a:rPr>
              <a:t>Tata CLiQ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385" fill="hold"/>
                                        <p:tgtEl>
                                          <p:spTgt spid="6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1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1" dur="180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385" fill="hold"/>
                                        <p:tgtEl>
                                          <p:spTgt spid="10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9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3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385" fill="hold"/>
                                        <p:tgtEl>
                                          <p:spTgt spid="1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4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3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385" fill="hold"/>
                                        <p:tgtEl>
                                          <p:spTgt spid="12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9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385" fill="hold"/>
                                        <p:tgtEl>
                                          <p:spTgt spid="13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4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3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385" fill="hold"/>
                                        <p:tgtEl>
                                          <p:spTgt spid="14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9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Vestra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3EBDD"/>
                </a:solidFill>
                <a:latin typeface="Georgia"/>
              </a:rPr>
              <a:t>One closet, every 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06040"/>
            <a:ext cx="3401568" cy="2880360"/>
          </a:xfrm>
          <a:prstGeom prst="roundRect">
            <a:avLst>
              <a:gd name="adj" fmla="val 9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10896" bIns="0"/>
          <a:lstStyle/>
          <a:p>
            <a:pPr algn="l"/>
            <a:r>
              <a:rPr sz="3000" b="0" i="0">
                <a:solidFill>
                  <a:srgbClr val="F2953F"/>
                </a:solidFill>
                <a:latin typeface="Calibri"/>
              </a:rPr>
              <a:t>🛍</a:t>
            </a:r>
          </a:p>
          <a:p>
            <a:pPr algn="l">
              <a:spcBef>
                <a:spcPts val="1600"/>
              </a:spcBef>
            </a:pPr>
            <a:r>
              <a:rPr sz="2300" b="1" i="0">
                <a:solidFill>
                  <a:srgbClr val="F3EBDD"/>
                </a:solidFill>
                <a:latin typeface="Georgia"/>
              </a:rPr>
              <a:t>One catalogue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600" b="0" i="0">
                <a:solidFill>
                  <a:srgbClr val="B3A690"/>
                </a:solidFill>
                <a:latin typeface="Calibri"/>
              </a:rPr>
              <a:t>Browse curated fashion in a single, beautiful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2606040"/>
            <a:ext cx="3401568" cy="2880360"/>
          </a:xfrm>
          <a:prstGeom prst="roundRect">
            <a:avLst>
              <a:gd name="adj" fmla="val 9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10896" bIns="0"/>
          <a:lstStyle/>
          <a:p>
            <a:pPr algn="l"/>
            <a:r>
              <a:rPr sz="3000" b="0" i="0">
                <a:solidFill>
                  <a:srgbClr val="F2953F"/>
                </a:solidFill>
                <a:latin typeface="Calibri"/>
              </a:rPr>
              <a:t>🏷</a:t>
            </a:r>
          </a:p>
          <a:p>
            <a:pPr algn="l">
              <a:spcBef>
                <a:spcPts val="1600"/>
              </a:spcBef>
            </a:pPr>
            <a:r>
              <a:rPr sz="2300" b="1" i="0">
                <a:solidFill>
                  <a:srgbClr val="F3EBDD"/>
                </a:solidFill>
                <a:latin typeface="Georgia"/>
              </a:rPr>
              <a:t>The best price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600" b="0" i="0">
                <a:solidFill>
                  <a:srgbClr val="B3A690"/>
                </a:solidFill>
                <a:latin typeface="Calibri"/>
              </a:rPr>
              <a:t>Every item compared across five stores,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2606040"/>
            <a:ext cx="3401568" cy="2880360"/>
          </a:xfrm>
          <a:prstGeom prst="roundRect">
            <a:avLst>
              <a:gd name="adj" fmla="val 9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310896" bIns="0"/>
          <a:lstStyle/>
          <a:p>
            <a:pPr algn="l"/>
            <a:r>
              <a:rPr sz="3000" b="0" i="0">
                <a:solidFill>
                  <a:srgbClr val="F2953F"/>
                </a:solidFill>
                <a:latin typeface="Calibri"/>
              </a:rPr>
              <a:t>⚡</a:t>
            </a:r>
          </a:p>
          <a:p>
            <a:pPr algn="l">
              <a:spcBef>
                <a:spcPts val="1600"/>
              </a:spcBef>
            </a:pPr>
            <a:r>
              <a:rPr sz="2300" b="1" i="0">
                <a:solidFill>
                  <a:srgbClr val="F3EBDD"/>
                </a:solidFill>
                <a:latin typeface="Georgia"/>
              </a:rPr>
              <a:t>One tap to buy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600" b="0" i="0">
                <a:solidFill>
                  <a:srgbClr val="B3A690"/>
                </a:solidFill>
                <a:latin typeface="Calibri"/>
              </a:rPr>
              <a:t>We send you straight to the cheapest checkout.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decel="6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50" decel="6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50" decel="6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Vestra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3EBDD"/>
                </a:solidFill>
                <a:latin typeface="Georgia"/>
              </a:rPr>
              <a:t>From browse to best price, in four steps.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41248" y="2880360"/>
            <a:ext cx="2468880" cy="2670048"/>
            <a:chOff x="841248" y="2880360"/>
            <a:chExt cx="2468880" cy="2670048"/>
          </a:xfrm>
        </p:grpSpPr>
        <p:sp>
          <p:nvSpPr>
            <p:cNvPr id="7" name="Oval 6"/>
            <p:cNvSpPr/>
            <p:nvPr/>
          </p:nvSpPr>
          <p:spPr>
            <a:xfrm>
              <a:off x="1664208" y="288036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53F"/>
                </a:gs>
                <a:gs pos="100000">
                  <a:srgbClr val="DF7226"/>
                </a:gs>
              </a:gsLst>
              <a:lin ang="8100000" scaled="1"/>
            </a:gradFill>
            <a:ln>
              <a:noFill/>
            </a:ln>
            <a:effectLst>
              <a:glow rad="127000">
                <a:srgbClr val="F2953F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2700" b="1" i="0">
                  <a:solidFill>
                    <a:srgbClr val="1A120A"/>
                  </a:solidFill>
                  <a:latin typeface="Georgia"/>
                </a:rPr>
                <a:t>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41248" y="3931920"/>
              <a:ext cx="246888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100" b="1" i="0">
                  <a:solidFill>
                    <a:srgbClr val="F3EBDD"/>
                  </a:solidFill>
                  <a:latin typeface="Calibri"/>
                </a:rPr>
                <a:t>Browse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41248" y="4407408"/>
              <a:ext cx="2468880" cy="1143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500" b="0" i="0">
                  <a:solidFill>
                    <a:srgbClr val="B3A690"/>
                  </a:solidFill>
                  <a:latin typeface="Calibri"/>
                </a:rPr>
                <a:t>Explore a curated fashion catalogue.</a:t>
              </a:r>
            </a:p>
          </p:txBody>
        </p:sp>
      </p:grpSp>
      <p:cxnSp>
        <p:nvCxnSpPr>
          <p:cNvPr id="10" name="Connector 9"/>
          <p:cNvCxnSpPr/>
          <p:nvPr/>
        </p:nvCxnSpPr>
        <p:spPr>
          <a:xfrm>
            <a:off x="3291840" y="3291840"/>
            <a:ext cx="246888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3520440" y="2880360"/>
            <a:ext cx="2468880" cy="2670048"/>
            <a:chOff x="3520440" y="2880360"/>
            <a:chExt cx="2468880" cy="2670048"/>
          </a:xfrm>
        </p:grpSpPr>
        <p:sp>
          <p:nvSpPr>
            <p:cNvPr id="12" name="Oval 11"/>
            <p:cNvSpPr/>
            <p:nvPr/>
          </p:nvSpPr>
          <p:spPr>
            <a:xfrm>
              <a:off x="4343400" y="288036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53F"/>
                </a:gs>
                <a:gs pos="100000">
                  <a:srgbClr val="DF7226"/>
                </a:gs>
              </a:gsLst>
              <a:lin ang="8100000" scaled="1"/>
            </a:gradFill>
            <a:ln>
              <a:noFill/>
            </a:ln>
            <a:effectLst>
              <a:glow rad="127000">
                <a:srgbClr val="F2953F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2700" b="1" i="0">
                  <a:solidFill>
                    <a:srgbClr val="1A120A"/>
                  </a:solidFill>
                  <a:latin typeface="Georgia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20440" y="3931920"/>
              <a:ext cx="246888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100" b="1" i="0">
                  <a:solidFill>
                    <a:srgbClr val="F3EBDD"/>
                  </a:solidFill>
                  <a:latin typeface="Calibri"/>
                </a:rPr>
                <a:t>Pick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20440" y="4407408"/>
              <a:ext cx="2468880" cy="1143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500" b="0" i="0">
                  <a:solidFill>
                    <a:srgbClr val="B3A690"/>
                  </a:solidFill>
                  <a:latin typeface="Calibri"/>
                </a:rPr>
                <a:t>Open any product you like.</a:t>
              </a:r>
            </a:p>
          </p:txBody>
        </p:sp>
      </p:grpSp>
      <p:cxnSp>
        <p:nvCxnSpPr>
          <p:cNvPr id="15" name="Connector 14"/>
          <p:cNvCxnSpPr/>
          <p:nvPr/>
        </p:nvCxnSpPr>
        <p:spPr>
          <a:xfrm>
            <a:off x="5971032" y="3291840"/>
            <a:ext cx="246888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6199632" y="2880360"/>
            <a:ext cx="2468880" cy="2670048"/>
            <a:chOff x="6199632" y="2880360"/>
            <a:chExt cx="2468880" cy="2670048"/>
          </a:xfrm>
        </p:grpSpPr>
        <p:sp>
          <p:nvSpPr>
            <p:cNvPr id="17" name="Oval 16"/>
            <p:cNvSpPr/>
            <p:nvPr/>
          </p:nvSpPr>
          <p:spPr>
            <a:xfrm>
              <a:off x="7022592" y="288036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53F"/>
                </a:gs>
                <a:gs pos="100000">
                  <a:srgbClr val="DF7226"/>
                </a:gs>
              </a:gsLst>
              <a:lin ang="8100000" scaled="1"/>
            </a:gradFill>
            <a:ln>
              <a:noFill/>
            </a:ln>
            <a:effectLst>
              <a:glow rad="127000">
                <a:srgbClr val="F2953F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2700" b="1" i="0">
                  <a:solidFill>
                    <a:srgbClr val="1A120A"/>
                  </a:solidFill>
                  <a:latin typeface="Georgia"/>
                </a:rPr>
                <a:t>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99632" y="3931920"/>
              <a:ext cx="246888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100" b="1" i="0">
                  <a:solidFill>
                    <a:srgbClr val="F3EBDD"/>
                  </a:solidFill>
                  <a:latin typeface="Calibri"/>
                </a:rPr>
                <a:t>Compare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199632" y="4407408"/>
              <a:ext cx="2468880" cy="1143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500" b="0" i="0">
                  <a:solidFill>
                    <a:srgbClr val="B3A690"/>
                  </a:solidFill>
                  <a:latin typeface="Calibri"/>
                </a:rPr>
                <a:t>See its price at every store, side by side.</a:t>
              </a:r>
            </a:p>
          </p:txBody>
        </p:sp>
      </p:grpSp>
      <p:cxnSp>
        <p:nvCxnSpPr>
          <p:cNvPr id="20" name="Connector 19"/>
          <p:cNvCxnSpPr/>
          <p:nvPr/>
        </p:nvCxnSpPr>
        <p:spPr>
          <a:xfrm>
            <a:off x="8650224" y="3291840"/>
            <a:ext cx="246888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8878824" y="2880360"/>
            <a:ext cx="2468880" cy="2670048"/>
            <a:chOff x="8878824" y="2880360"/>
            <a:chExt cx="2468880" cy="2670048"/>
          </a:xfrm>
        </p:grpSpPr>
        <p:sp>
          <p:nvSpPr>
            <p:cNvPr id="22" name="Oval 21"/>
            <p:cNvSpPr/>
            <p:nvPr/>
          </p:nvSpPr>
          <p:spPr>
            <a:xfrm>
              <a:off x="9701784" y="288036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53F"/>
                </a:gs>
                <a:gs pos="100000">
                  <a:srgbClr val="DF7226"/>
                </a:gs>
              </a:gsLst>
              <a:lin ang="8100000" scaled="1"/>
            </a:gradFill>
            <a:ln>
              <a:noFill/>
            </a:ln>
            <a:effectLst>
              <a:glow rad="127000">
                <a:srgbClr val="F2953F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  <a:r>
                <a:rPr sz="2700" b="1" i="0">
                  <a:solidFill>
                    <a:srgbClr val="1A120A"/>
                  </a:solidFill>
                  <a:latin typeface="Georgia"/>
                </a:rPr>
                <a:t>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78824" y="3931920"/>
              <a:ext cx="246888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/>
              <a:r>
                <a:rPr sz="2100" b="1" i="0">
                  <a:solidFill>
                    <a:srgbClr val="F3EBDD"/>
                  </a:solidFill>
                  <a:latin typeface="Calibri"/>
                </a:rPr>
                <a:t>Buy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878824" y="4407408"/>
              <a:ext cx="2468880" cy="1143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500" b="0" i="0">
                  <a:solidFill>
                    <a:srgbClr val="B3A690"/>
                  </a:solidFill>
                  <a:latin typeface="Calibri"/>
                </a:rPr>
                <a:t>Tap through to the cheapest one.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385" fill="hold"/>
                                        <p:tgtEl>
                                          <p:spTgt spid="6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1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85" fill="hold"/>
                                        <p:tgtEl>
                                          <p:spTgt spid="1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1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385" fill="hold"/>
                                        <p:tgtEl>
                                          <p:spTgt spid="16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9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2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385" fill="hold"/>
                                        <p:tgtEl>
                                          <p:spTgt spid="2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7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  <p:bldP spid="11" grpId="0"/>
      <p:bldP spid="15" grpId="0"/>
      <p:bldP spid="16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Vestra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HOW IT WORKS ·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3EBDD"/>
                </a:solidFill>
                <a:latin typeface="Georgia"/>
              </a:rPr>
              <a:t>Where the prices come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560320"/>
            <a:ext cx="2286000" cy="1965960"/>
          </a:xfrm>
          <a:prstGeom prst="roundRect">
            <a:avLst>
              <a:gd name="adj" fmla="val 10000"/>
            </a:avLst>
          </a:prstGeom>
          <a:solidFill>
            <a:srgbClr val="2E261B"/>
          </a:solidFill>
          <a:ln w="15875">
            <a:solidFill>
              <a:srgbClr val="453B2D"/>
            </a:solidFill>
          </a:ln>
          <a:effectLst>
            <a:glow rad="127000">
              <a:srgbClr val="F2953F">
                <a:alpha val="22000"/>
              </a:srgbClr>
            </a:glow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3000" b="1" i="0">
                <a:solidFill>
                  <a:srgbClr val="F3EBDD"/>
                </a:solidFill>
                <a:latin typeface="Georgia"/>
              </a:rPr>
              <a:t>Vestra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B3A690"/>
                </a:solidFill>
                <a:latin typeface="Calibri"/>
              </a:rPr>
              <a:t>runs in your browser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523744"/>
            <a:ext cx="4590287" cy="0"/>
          </a:xfrm>
          <a:prstGeom prst="line">
            <a:avLst/>
          </a:prstGeom>
          <a:ln w="27940">
            <a:solidFill>
              <a:srgbClr val="F295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401568" y="2446020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101600">
              <a:srgbClr val="F2953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8431" y="2313432"/>
            <a:ext cx="1600200" cy="420624"/>
          </a:xfrm>
          <a:prstGeom prst="roundRect">
            <a:avLst>
              <a:gd name="adj" fmla="val 3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9900"/>
                </a:solidFill>
                <a:latin typeface="Calibri"/>
              </a:rPr>
              <a:t>Amazon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65792" y="231343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953F"/>
                </a:solidFill>
                <a:latin typeface="Georgia"/>
              </a:rPr>
              <a:t>₹1,540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3090672"/>
            <a:ext cx="4590287" cy="0"/>
          </a:xfrm>
          <a:prstGeom prst="line">
            <a:avLst/>
          </a:prstGeom>
          <a:ln w="27940">
            <a:solidFill>
              <a:srgbClr val="F295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01568" y="3012948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101600">
              <a:srgbClr val="F2953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28431" y="2880360"/>
            <a:ext cx="1600200" cy="420624"/>
          </a:xfrm>
          <a:prstGeom prst="roundRect">
            <a:avLst>
              <a:gd name="adj" fmla="val 3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4A9BFF"/>
                </a:solidFill>
                <a:latin typeface="Calibri"/>
              </a:rPr>
              <a:t>Flipkart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65792" y="288036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953F"/>
                </a:solidFill>
                <a:latin typeface="Georgia"/>
              </a:rPr>
              <a:t>₹1,610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91840" y="3657600"/>
            <a:ext cx="4590287" cy="0"/>
          </a:xfrm>
          <a:prstGeom prst="line">
            <a:avLst/>
          </a:prstGeom>
          <a:ln w="27940">
            <a:solidFill>
              <a:srgbClr val="F295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401568" y="3579876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101600">
              <a:srgbClr val="F2953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28431" y="3447288"/>
            <a:ext cx="1600200" cy="420624"/>
          </a:xfrm>
          <a:prstGeom prst="roundRect">
            <a:avLst>
              <a:gd name="adj" fmla="val 3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5F8F"/>
                </a:solidFill>
                <a:latin typeface="Calibri"/>
              </a:rPr>
              <a:t>Myntra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5792" y="3447288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953F"/>
                </a:solidFill>
                <a:latin typeface="Georgia"/>
              </a:rPr>
              <a:t>₹1,499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91840" y="4224528"/>
            <a:ext cx="4590287" cy="0"/>
          </a:xfrm>
          <a:prstGeom prst="line">
            <a:avLst/>
          </a:prstGeom>
          <a:ln w="27940">
            <a:solidFill>
              <a:srgbClr val="F295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401568" y="4146804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101600">
              <a:srgbClr val="F2953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8431" y="4014215"/>
            <a:ext cx="1600200" cy="420624"/>
          </a:xfrm>
          <a:prstGeom prst="roundRect">
            <a:avLst>
              <a:gd name="adj" fmla="val 3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9CB4C4"/>
                </a:solidFill>
                <a:latin typeface="Calibri"/>
              </a:rPr>
              <a:t>Ajio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4014215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953F"/>
                </a:solidFill>
                <a:latin typeface="Georgia"/>
              </a:rPr>
              <a:t>₹1,560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4791456"/>
            <a:ext cx="4590287" cy="0"/>
          </a:xfrm>
          <a:prstGeom prst="line">
            <a:avLst/>
          </a:prstGeom>
          <a:ln w="27940">
            <a:solidFill>
              <a:srgbClr val="F295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401568" y="4713732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101600">
              <a:srgbClr val="F2953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28431" y="4581144"/>
            <a:ext cx="1600200" cy="420624"/>
          </a:xfrm>
          <a:prstGeom prst="roundRect">
            <a:avLst>
              <a:gd name="adj" fmla="val 30000"/>
            </a:avLst>
          </a:prstGeom>
          <a:solidFill>
            <a:srgbClr val="261F16"/>
          </a:solidFill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6B63"/>
                </a:solidFill>
                <a:latin typeface="Calibri"/>
              </a:rPr>
              <a:t>Tata CLiQ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92" y="4581144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953F"/>
                </a:solidFill>
                <a:latin typeface="Georgia"/>
              </a:rPr>
              <a:t>₹1,585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3218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B3A690"/>
                </a:solidFill>
                <a:latin typeface="Calibri"/>
              </a:rPr>
              <a:t>For every product, Vestra asks </a:t>
            </a:r>
            <a:r>
              <a:rPr sz="1900" b="1" i="0">
                <a:solidFill>
                  <a:srgbClr val="F3EBDD"/>
                </a:solidFill>
                <a:latin typeface="Calibri"/>
              </a:rPr>
              <a:t>each store</a:t>
            </a:r>
            <a:r>
              <a:rPr sz="1900" b="0" i="0">
                <a:solidFill>
                  <a:srgbClr val="B3A690"/>
                </a:solidFill>
                <a:latin typeface="Calibri"/>
              </a:rPr>
              <a:t>: “what's your price?” — then collects the answers.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9436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7D69"/>
                </a:solidFill>
                <a:latin typeface="Calibri"/>
              </a:rPr>
              <a:t>In this demo the price answers are simulated (stable &amp; realistic) because live retailer APIs need secret keys. The same design plugs into real pricing feeds behind a secure server — with no change to the app.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420" fill="hold"/>
                                        <p:tgtEl>
                                          <p:spTgt spid="6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13" dur="180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85" fill="hold"/>
                                        <p:tgtEl>
                                          <p:spTgt spid="9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1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3520 0 E" pathEditMode="relative">
                                      <p:cBhvr>
                                        <p:cTn id="28" dur="1700" repeatCount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385" fill="hold"/>
                                        <p:tgtEl>
                                          <p:spTgt spid="13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7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3520 0 E" pathEditMode="relative">
                                      <p:cBhvr>
                                        <p:cTn id="44" dur="1700" repeatCount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3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385" fill="hold"/>
                                        <p:tgtEl>
                                          <p:spTgt spid="17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5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1" nodeType="withEffect">
                                  <p:stCondLst>
                                    <p:cond delay="1450"/>
                                  </p:stCondLst>
                                  <p:childTnLst>
                                    <p:animMotion origin="layout" path="M 0 0 L 0.3520 0 E" pathEditMode="relative">
                                      <p:cBhvr>
                                        <p:cTn id="60" dur="1700" repeatCount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3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385" fill="hold"/>
                                        <p:tgtEl>
                                          <p:spTgt spid="2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69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3520 0 E" pathEditMode="relative">
                                      <p:cBhvr>
                                        <p:cTn id="76" dur="1700" repeatCount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3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3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385" fill="hold"/>
                                        <p:tgtEl>
                                          <p:spTgt spid="25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85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0" presetClass="path" presetSubtype="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0.3520 0 E" pathEditMode="relative">
                                      <p:cBhvr>
                                        <p:cTn id="92" dur="1700" repeatCount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decel="6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8" grpId="0"/>
      <p:bldP spid="8" grpId="1"/>
      <p:bldP spid="10" grpId="0"/>
      <p:bldP spid="11" grpId="0"/>
      <p:bldP spid="13" grpId="0"/>
      <p:bldP spid="12" grpId="0"/>
      <p:bldP spid="12" grpId="1"/>
      <p:bldP spid="14" grpId="0"/>
      <p:bldP spid="15" grpId="0"/>
      <p:bldP spid="17" grpId="0"/>
      <p:bldP spid="16" grpId="0"/>
      <p:bldP spid="16" grpId="1"/>
      <p:bldP spid="18" grpId="0"/>
      <p:bldP spid="19" grpId="0"/>
      <p:bldP spid="21" grpId="0"/>
      <p:bldP spid="20" grpId="0"/>
      <p:bldP spid="20" grpId="1"/>
      <p:bldP spid="22" grpId="0"/>
      <p:bldP spid="23" grpId="0"/>
      <p:bldP spid="25" grpId="0"/>
      <p:bldP spid="24" grpId="0"/>
      <p:bldP spid="24" grpId="1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Vestra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HOW IT WORKS · THE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3EBDD"/>
                </a:solidFill>
                <a:latin typeface="Georgia"/>
              </a:rPr>
              <a:t>How we know which store is cheapest.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3A690"/>
                </a:solidFill>
                <a:latin typeface="Calibri"/>
              </a:rPr>
              <a:t>Comparing one product · </a:t>
            </a:r>
            <a:r>
              <a:rPr sz="1900" b="1" i="0">
                <a:solidFill>
                  <a:srgbClr val="F3EBDD"/>
                </a:solidFill>
                <a:latin typeface="Calibri"/>
              </a:rPr>
              <a:t>Linen Overshirt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87168"/>
            <a:ext cx="2084831" cy="1828800"/>
          </a:xfrm>
          <a:prstGeom prst="roundRect">
            <a:avLst>
              <a:gd name="adj" fmla="val 10000"/>
            </a:avLst>
          </a:prstGeom>
          <a:solidFill>
            <a:srgbClr val="261F16"/>
          </a:solidFill>
          <a:ln w="12700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B3A690"/>
                </a:solidFill>
                <a:latin typeface="Calibri"/>
              </a:rPr>
              <a:t>Amazon</a:t>
            </a:r>
          </a:p>
          <a:p>
            <a:pPr algn="ctr">
              <a:spcBef>
                <a:spcPts val="600"/>
              </a:spcBef>
            </a:pPr>
            <a:r>
              <a:rPr sz="3000" b="1" i="0">
                <a:solidFill>
                  <a:srgbClr val="F3EBDD"/>
                </a:solidFill>
                <a:latin typeface="Georgia"/>
              </a:rPr>
              <a:t>₹1,540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8A7D69"/>
                </a:solidFill>
                <a:latin typeface="Calibri"/>
              </a:rPr>
              <a:t>in stock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9815" y="2487168"/>
            <a:ext cx="2084831" cy="1828800"/>
          </a:xfrm>
          <a:prstGeom prst="roundRect">
            <a:avLst>
              <a:gd name="adj" fmla="val 10000"/>
            </a:avLst>
          </a:prstGeom>
          <a:solidFill>
            <a:srgbClr val="261F16"/>
          </a:solidFill>
          <a:ln w="12700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B3A690"/>
                </a:solidFill>
                <a:latin typeface="Calibri"/>
              </a:rPr>
              <a:t>Flipkart</a:t>
            </a:r>
          </a:p>
          <a:p>
            <a:pPr algn="ctr">
              <a:spcBef>
                <a:spcPts val="600"/>
              </a:spcBef>
            </a:pPr>
            <a:r>
              <a:rPr sz="3000" b="1" i="0">
                <a:solidFill>
                  <a:srgbClr val="F3EBDD"/>
                </a:solidFill>
                <a:latin typeface="Georgia"/>
              </a:rPr>
              <a:t>₹1,610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8A7D69"/>
                </a:solidFill>
                <a:latin typeface="Calibri"/>
              </a:rPr>
              <a:t>in stock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3" y="2487168"/>
            <a:ext cx="2084831" cy="1828800"/>
          </a:xfrm>
          <a:prstGeom prst="roundRect">
            <a:avLst>
              <a:gd name="adj" fmla="val 10000"/>
            </a:avLst>
          </a:prstGeom>
          <a:solidFill>
            <a:srgbClr val="261F16"/>
          </a:solidFill>
          <a:ln w="30480">
            <a:solidFill>
              <a:srgbClr val="F2953F"/>
            </a:solidFill>
          </a:ln>
          <a:effectLst>
            <a:glow rad="177800">
              <a:srgbClr val="F2953F">
                <a:alpha val="42000"/>
              </a:srgbClr>
            </a:glow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B3A690"/>
                </a:solidFill>
                <a:latin typeface="Calibri"/>
              </a:rPr>
              <a:t>Myntra</a:t>
            </a:r>
          </a:p>
          <a:p>
            <a:pPr algn="ctr">
              <a:spcBef>
                <a:spcPts val="600"/>
              </a:spcBef>
            </a:pPr>
            <a:r>
              <a:rPr sz="3000" b="1" i="0">
                <a:solidFill>
                  <a:srgbClr val="F2953F"/>
                </a:solidFill>
                <a:latin typeface="Georgia"/>
              </a:rPr>
              <a:t>₹1,499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8A7D69"/>
                </a:solidFill>
                <a:latin typeface="Calibri"/>
              </a:rPr>
              <a:t>in stock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59" y="2212848"/>
            <a:ext cx="1554480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953F"/>
              </a:gs>
              <a:gs pos="100000">
                <a:srgbClr val="DF7226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20A"/>
                </a:solidFill>
                <a:latin typeface="Calibri"/>
              </a:rPr>
              <a:t>★ Best price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6951" y="2487168"/>
            <a:ext cx="2084831" cy="1828800"/>
          </a:xfrm>
          <a:prstGeom prst="roundRect">
            <a:avLst>
              <a:gd name="adj" fmla="val 10000"/>
            </a:avLst>
          </a:prstGeom>
          <a:solidFill>
            <a:srgbClr val="261F16"/>
          </a:solidFill>
          <a:ln w="12700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8A7D69"/>
                </a:solidFill>
                <a:latin typeface="Calibri"/>
              </a:rPr>
              <a:t>Ajio</a:t>
            </a:r>
          </a:p>
          <a:p>
            <a:pPr algn="ctr">
              <a:spcBef>
                <a:spcPts val="600"/>
              </a:spcBef>
            </a:pPr>
            <a:r>
              <a:rPr sz="3000" b="1" i="0" strike="sngStrike">
                <a:solidFill>
                  <a:srgbClr val="8A7D69"/>
                </a:solidFill>
                <a:latin typeface="Georgia"/>
              </a:rPr>
              <a:t>₹1,470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8A7D69"/>
                </a:solidFill>
                <a:latin typeface="Calibri"/>
              </a:rPr>
              <a:t>out of stock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9" y="2487168"/>
            <a:ext cx="2084831" cy="1828800"/>
          </a:xfrm>
          <a:prstGeom prst="roundRect">
            <a:avLst>
              <a:gd name="adj" fmla="val 10000"/>
            </a:avLst>
          </a:prstGeom>
          <a:solidFill>
            <a:srgbClr val="261F16"/>
          </a:solidFill>
          <a:ln w="12700">
            <a:solidFill>
              <a:srgbClr val="453B2D"/>
            </a:solidFill>
          </a:ln>
          <a:effectLst>
            <a:outerShdw blurRad="177800" dist="635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B3A690"/>
                </a:solidFill>
                <a:latin typeface="Calibri"/>
              </a:rPr>
              <a:t>Tata CLiQ</a:t>
            </a:r>
          </a:p>
          <a:p>
            <a:pPr algn="ctr">
              <a:spcBef>
                <a:spcPts val="600"/>
              </a:spcBef>
            </a:pPr>
            <a:r>
              <a:rPr sz="3000" b="1" i="0">
                <a:solidFill>
                  <a:srgbClr val="F3EBDD"/>
                </a:solidFill>
                <a:latin typeface="Georgia"/>
              </a:rPr>
              <a:t>₹1,585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8A7D69"/>
                </a:solidFill>
                <a:latin typeface="Calibri"/>
              </a:rPr>
              <a:t>in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00600"/>
            <a:ext cx="5760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3EBDD"/>
                </a:solidFill>
                <a:latin typeface="Calibri"/>
              </a:rPr>
              <a:t>The lowest price that's actually </a:t>
            </a:r>
            <a:r>
              <a:rPr sz="2000" b="1" i="0">
                <a:solidFill>
                  <a:srgbClr val="F2953F"/>
                </a:solidFill>
                <a:latin typeface="Calibri"/>
              </a:rPr>
              <a:t>in stock</a:t>
            </a:r>
            <a:r>
              <a:rPr sz="2000" b="0" i="0">
                <a:solidFill>
                  <a:srgbClr val="F3EBDD"/>
                </a:solidFill>
                <a:latin typeface="Calibri"/>
              </a:rPr>
              <a:t> wins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800600"/>
            <a:ext cx="3291840" cy="7315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953F"/>
              </a:gs>
              <a:gs pos="100000">
                <a:srgbClr val="DF7226"/>
              </a:gs>
            </a:gsLst>
            <a:lin ang="8100000" scaled="1"/>
          </a:gradFill>
          <a:ln>
            <a:noFill/>
          </a:ln>
          <a:effectLst>
            <a:glow rad="152400">
              <a:srgbClr val="F2953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1A120A"/>
                </a:solidFill>
                <a:latin typeface="Calibri"/>
              </a:rPr>
              <a:t>Buy on Myntra · ₹1,499 ↗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385" fill="hold"/>
                                        <p:tgtEl>
                                          <p:spTgt spid="7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16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3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85" fill="hold"/>
                                        <p:tgtEl>
                                          <p:spTgt spid="8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1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385" fill="hold"/>
                                        <p:tgtEl>
                                          <p:spTgt spid="9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6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3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385" fill="hold"/>
                                        <p:tgtEl>
                                          <p:spTgt spid="1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1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3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385" fill="hold"/>
                                        <p:tgtEl>
                                          <p:spTgt spid="12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6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350" fill="hold"/>
                                        <p:tgtEl>
                                          <p:spTgt spid="10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1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45" dur="225" fill="hold"/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  <p:animScale>
                                      <p:cBhvr>
                                        <p:cTn id="46" dur="225" fill="hold">
                                          <p:stCondLst>
                                            <p:cond delay="22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6000" y="106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decel="6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385" fill="hold"/>
                                        <p:tgtEl>
                                          <p:spTgt spid="14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5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/>
      <p:bldP spid="10" grpId="0"/>
      <p:bldP spid="9" grpId="1"/>
      <p:bldP spid="13" grpId="0"/>
      <p:bldP spid="14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A7D69"/>
                </a:solidFill>
                <a:latin typeface="Georgia"/>
              </a:rPr>
              <a:t>Vestra</a:t>
            </a:r>
            <a:r>
              <a:rPr sz="1500" b="1" i="0">
                <a:solidFill>
                  <a:srgbClr val="F2953F"/>
                </a:solidFill>
                <a:latin typeface="Georg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7D69"/>
                </a:solidFill>
                <a:latin typeface="Calibri"/>
              </a:rPr>
              <a:t>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80">
                <a:solidFill>
                  <a:srgbClr val="F2953F"/>
                </a:solidFill>
                <a:latin typeface="Calibri"/>
              </a:rPr>
              <a:t>THE TECHNOLOGY, IN ONE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3EBDD"/>
                </a:solidFill>
                <a:latin typeface="Georgia"/>
              </a:rPr>
              <a:t>Every store speaks differently.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3EBDD"/>
                </a:solidFill>
                <a:latin typeface="Georgia"/>
              </a:rPr>
              <a:t>We built a translator for 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017520"/>
            <a:ext cx="2286000" cy="1874519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2953F"/>
              </a:gs>
              <a:gs pos="100000">
                <a:srgbClr val="DF7226"/>
              </a:gs>
            </a:gsLst>
            <a:lin ang="8100000" scaled="1"/>
          </a:gradFill>
          <a:ln>
            <a:noFill/>
          </a:ln>
          <a:effectLst>
            <a:glow rad="177800">
              <a:srgbClr val="F2953F">
                <a:alpha val="4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1A120A"/>
                </a:solidFill>
                <a:latin typeface="Georgia"/>
              </a:rPr>
              <a:t>Vestra</a:t>
            </a:r>
          </a:p>
          <a:p>
            <a:pPr algn="ctr"/>
            <a:r>
              <a:rPr sz="2400" b="1" i="0">
                <a:solidFill>
                  <a:srgbClr val="1A120A"/>
                </a:solidFill>
                <a:latin typeface="Georgia"/>
              </a:rPr>
              <a:t>core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18688" y="3108960"/>
            <a:ext cx="566927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3877056" y="2834640"/>
            <a:ext cx="6355080" cy="548640"/>
            <a:chOff x="3877056" y="2834640"/>
            <a:chExt cx="6355080" cy="548640"/>
          </a:xfrm>
        </p:grpSpPr>
        <p:sp>
          <p:nvSpPr>
            <p:cNvPr id="9" name="Rounded Rectangle 8"/>
            <p:cNvSpPr/>
            <p:nvPr/>
          </p:nvSpPr>
          <p:spPr>
            <a:xfrm>
              <a:off x="3877056" y="2834640"/>
              <a:ext cx="6355080" cy="548640"/>
            </a:xfrm>
            <a:prstGeom prst="roundRect">
              <a:avLst>
                <a:gd name="adj" fmla="val 20000"/>
              </a:avLst>
            </a:prstGeom>
            <a:solidFill>
              <a:srgbClr val="261F16"/>
            </a:solidFill>
            <a:ln w="15875">
              <a:solidFill>
                <a:srgbClr val="453B2D"/>
              </a:solidFill>
            </a:ln>
            <a:effectLst>
              <a:outerShdw blurRad="101600" dist="38100" dir="54000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19456" rIns="0" tIns="0" bIns="0"/>
            <a:lstStyle/>
            <a:p>
              <a:pPr algn="l"/>
              <a:r>
                <a:rPr sz="1700" b="1" i="0">
                  <a:solidFill>
                    <a:srgbClr val="F3EBDD"/>
                  </a:solidFill>
                  <a:latin typeface="Calibri"/>
                </a:rPr>
                <a:t>🔌  Amazon adapter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589520" y="2916936"/>
              <a:ext cx="2450592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r"/>
              <a:r>
                <a:rPr sz="1500" b="0" i="1">
                  <a:solidFill>
                    <a:srgbClr val="B3A690"/>
                  </a:solidFill>
                  <a:latin typeface="Georgia"/>
                </a:rPr>
                <a:t>?k=linen shirt</a:t>
              </a: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3218688" y="3749039"/>
            <a:ext cx="566927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3877056" y="3474720"/>
            <a:ext cx="6355080" cy="548640"/>
            <a:chOff x="3877056" y="3474720"/>
            <a:chExt cx="6355080" cy="548640"/>
          </a:xfrm>
        </p:grpSpPr>
        <p:sp>
          <p:nvSpPr>
            <p:cNvPr id="13" name="Rounded Rectangle 12"/>
            <p:cNvSpPr/>
            <p:nvPr/>
          </p:nvSpPr>
          <p:spPr>
            <a:xfrm>
              <a:off x="3877056" y="3474720"/>
              <a:ext cx="6355080" cy="548640"/>
            </a:xfrm>
            <a:prstGeom prst="roundRect">
              <a:avLst>
                <a:gd name="adj" fmla="val 20000"/>
              </a:avLst>
            </a:prstGeom>
            <a:solidFill>
              <a:srgbClr val="261F16"/>
            </a:solidFill>
            <a:ln w="15875">
              <a:solidFill>
                <a:srgbClr val="453B2D"/>
              </a:solidFill>
            </a:ln>
            <a:effectLst>
              <a:outerShdw blurRad="101600" dist="38100" dir="54000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19456" rIns="0" tIns="0" bIns="0"/>
            <a:lstStyle/>
            <a:p>
              <a:pPr algn="l"/>
              <a:r>
                <a:rPr sz="1700" b="1" i="0">
                  <a:solidFill>
                    <a:srgbClr val="F3EBDD"/>
                  </a:solidFill>
                  <a:latin typeface="Calibri"/>
                </a:rPr>
                <a:t>🔌  Myntra adapter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89520" y="3557015"/>
              <a:ext cx="2450592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r"/>
              <a:r>
                <a:rPr sz="1500" b="0" i="1">
                  <a:solidFill>
                    <a:srgbClr val="B3A690"/>
                  </a:solidFill>
                  <a:latin typeface="Georgia"/>
                </a:rPr>
                <a:t>/linen-shirt</a:t>
              </a:r>
            </a:p>
          </p:txBody>
        </p:sp>
      </p:grpSp>
      <p:cxnSp>
        <p:nvCxnSpPr>
          <p:cNvPr id="15" name="Connector 14"/>
          <p:cNvCxnSpPr/>
          <p:nvPr/>
        </p:nvCxnSpPr>
        <p:spPr>
          <a:xfrm>
            <a:off x="3218688" y="4389120"/>
            <a:ext cx="566927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3877056" y="4114800"/>
            <a:ext cx="6355080" cy="548640"/>
            <a:chOff x="3877056" y="4114800"/>
            <a:chExt cx="6355080" cy="548640"/>
          </a:xfrm>
        </p:grpSpPr>
        <p:sp>
          <p:nvSpPr>
            <p:cNvPr id="17" name="Rounded Rectangle 16"/>
            <p:cNvSpPr/>
            <p:nvPr/>
          </p:nvSpPr>
          <p:spPr>
            <a:xfrm>
              <a:off x="3877056" y="4114800"/>
              <a:ext cx="6355080" cy="548640"/>
            </a:xfrm>
            <a:prstGeom prst="roundRect">
              <a:avLst>
                <a:gd name="adj" fmla="val 20000"/>
              </a:avLst>
            </a:prstGeom>
            <a:solidFill>
              <a:srgbClr val="261F16"/>
            </a:solidFill>
            <a:ln w="15875">
              <a:solidFill>
                <a:srgbClr val="453B2D"/>
              </a:solidFill>
            </a:ln>
            <a:effectLst>
              <a:outerShdw blurRad="101600" dist="38100" dir="54000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19456" rIns="0" tIns="0" bIns="0"/>
            <a:lstStyle/>
            <a:p>
              <a:pPr algn="l"/>
              <a:r>
                <a:rPr sz="1700" b="1" i="0">
                  <a:solidFill>
                    <a:srgbClr val="F3EBDD"/>
                  </a:solidFill>
                  <a:latin typeface="Calibri"/>
                </a:rPr>
                <a:t>🔌  Flipkart adapter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589520" y="4197096"/>
              <a:ext cx="2450592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r"/>
              <a:r>
                <a:rPr sz="1500" b="0" i="1">
                  <a:solidFill>
                    <a:srgbClr val="B3A690"/>
                  </a:solidFill>
                  <a:latin typeface="Georgia"/>
                </a:rPr>
                <a:t>/search?q=…</a:t>
              </a:r>
            </a:p>
          </p:txBody>
        </p:sp>
      </p:grpSp>
      <p:cxnSp>
        <p:nvCxnSpPr>
          <p:cNvPr id="19" name="Connector 18"/>
          <p:cNvCxnSpPr/>
          <p:nvPr/>
        </p:nvCxnSpPr>
        <p:spPr>
          <a:xfrm>
            <a:off x="3218688" y="5029200"/>
            <a:ext cx="566927" cy="0"/>
          </a:xfrm>
          <a:prstGeom prst="line">
            <a:avLst/>
          </a:prstGeom>
          <a:ln w="22860">
            <a:solidFill>
              <a:srgbClr val="8A7D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3877056" y="4754880"/>
            <a:ext cx="6355080" cy="548640"/>
            <a:chOff x="3877056" y="4754880"/>
            <a:chExt cx="6355080" cy="548640"/>
          </a:xfrm>
        </p:grpSpPr>
        <p:sp>
          <p:nvSpPr>
            <p:cNvPr id="21" name="Rounded Rectangle 20"/>
            <p:cNvSpPr/>
            <p:nvPr/>
          </p:nvSpPr>
          <p:spPr>
            <a:xfrm>
              <a:off x="3877056" y="4754880"/>
              <a:ext cx="6355080" cy="548640"/>
            </a:xfrm>
            <a:prstGeom prst="roundRect">
              <a:avLst>
                <a:gd name="adj" fmla="val 20000"/>
              </a:avLst>
            </a:prstGeom>
            <a:solidFill>
              <a:srgbClr val="261F16"/>
            </a:solidFill>
            <a:ln w="15875">
              <a:solidFill>
                <a:srgbClr val="453B2D"/>
              </a:solidFill>
            </a:ln>
            <a:effectLst>
              <a:outerShdw blurRad="101600" dist="38100" dir="54000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219456" rIns="0" tIns="0" bIns="0"/>
            <a:lstStyle/>
            <a:p>
              <a:pPr algn="l"/>
              <a:r>
                <a:rPr sz="1700" b="1" i="0">
                  <a:solidFill>
                    <a:srgbClr val="F3EBDD"/>
                  </a:solidFill>
                  <a:latin typeface="Calibri"/>
                </a:rPr>
                <a:t>🔌  …and any new store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841248" y="5623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B3A690"/>
                </a:solidFill>
                <a:latin typeface="Calibri"/>
              </a:rPr>
              <a:t>Each “adapter” hides one store's quirks — so </a:t>
            </a:r>
            <a:r>
              <a:rPr sz="1800" b="1" i="0">
                <a:solidFill>
                  <a:srgbClr val="F3EBDD"/>
                </a:solidFill>
                <a:latin typeface="Calibri"/>
              </a:rPr>
              <a:t>adding a new store is a one-line change</a:t>
            </a:r>
            <a:r>
              <a:rPr sz="1800" b="0" i="0">
                <a:solidFill>
                  <a:srgbClr val="B3A690"/>
                </a:solidFill>
                <a:latin typeface="Calibri"/>
              </a:rPr>
              <a:t>, and the rest of the app never notices.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50" decel="6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420" fill="hold"/>
                                        <p:tgtEl>
                                          <p:spTgt spid="6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13" dur="180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50" decel="6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decel="6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decel="6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decel="6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decel="65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/>
      <p:bldP spid="12" grpId="0"/>
      <p:bldP spid="15" grpId="0"/>
      <p:bldP spid="16" grpId="0"/>
      <p:bldP spid="19" grpId="0"/>
      <p:bldP spid="20" grpId="0"/>
      <p:bldP spid="22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2214"/>
            </a:gs>
            <a:gs pos="50000">
              <a:srgbClr val="181410"/>
            </a:gs>
            <a:gs pos="100000">
              <a:srgbClr val="110E09"/>
            </a:gs>
          </a:gsLst>
          <a:path path="circle">
            <a:fillToRect l="80000" t="0" r="20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280160"/>
            <a:ext cx="3474720" cy="3474720"/>
          </a:xfrm>
          <a:prstGeom prst="ellipse">
            <a:avLst/>
          </a:prstGeom>
          <a:noFill/>
          <a:ln w="28575">
            <a:solidFill>
              <a:srgbClr val="F2953F">
                <a:alpha val="1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937760"/>
            <a:ext cx="3108960" cy="3108960"/>
          </a:xfrm>
          <a:prstGeom prst="ellipse">
            <a:avLst/>
          </a:prstGeom>
          <a:noFill/>
          <a:ln w="28575">
            <a:solidFill>
              <a:srgbClr val="F2953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280">
                <a:solidFill>
                  <a:srgbClr val="F2953F"/>
                </a:solidFill>
                <a:latin typeface="Calibri"/>
              </a:rPr>
              <a:t>VESTRA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303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7800" b="1" i="0">
                <a:solidFill>
                  <a:srgbClr val="F3EBDD"/>
                </a:solidFill>
                <a:latin typeface="Georgia"/>
              </a:rPr>
              <a:t>One closet.</a:t>
            </a:r>
          </a:p>
          <a:p>
            <a:pPr algn="ctr">
              <a:lnSpc>
                <a:spcPct val="104000"/>
              </a:lnSpc>
            </a:pPr>
            <a:r>
              <a:rPr sz="7800" b="1" i="0">
                <a:solidFill>
                  <a:srgbClr val="F3EBDD"/>
                </a:solidFill>
                <a:latin typeface="Georgia"/>
              </a:rPr>
              <a:t>Every 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B3A690"/>
                </a:solidFill>
                <a:latin typeface="Calibri"/>
              </a:rPr>
              <a:t>Browse everywhere. Buy at the best price. Every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17089" y="5394960"/>
            <a:ext cx="1271016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Amazon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89273" y="5394960"/>
            <a:ext cx="1536192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Flipkart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26633" y="5394960"/>
            <a:ext cx="1271016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Myntra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8817" y="5394960"/>
            <a:ext cx="100584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Ajio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5825" y="5394960"/>
            <a:ext cx="166878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453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B3A690"/>
                </a:solidFill>
                <a:latin typeface="Calibri"/>
              </a:rPr>
              <a:t>Tata CLiQ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6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950" decel="70000" fill="hold"/>
                                        <p:tgtEl>
                                          <p:spTgt spid="5"/>
                                        </p:tgtEl>
                                      </p:cBhvr>
                                      <p:from x="92000" y="9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50" decel="6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385" fill="hold"/>
                                        <p:tgtEl>
                                          <p:spTgt spid="7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3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3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85" fill="hold"/>
                                        <p:tgtEl>
                                          <p:spTgt spid="8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28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3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385" fill="hold"/>
                                        <p:tgtEl>
                                          <p:spTgt spid="9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385" fill="hold"/>
                                        <p:tgtEl>
                                          <p:spTgt spid="10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38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385" fill="hold"/>
                                        <p:tgtEl>
                                          <p:spTgt spid="11"/>
                                        </p:tgtEl>
                                      </p:cBhvr>
                                      <p:from x="78000" y="78000"/>
                                      <p:to x="104000" y="104000"/>
                                    </p:animScale>
                                    <p:animScale>
                                      <p:cBhvr>
                                        <p:cTn id="43" dur="16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