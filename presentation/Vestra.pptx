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FASHION, AGGREGATED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0" b="1" i="0">
                <a:solidFill>
                  <a:srgbClr val="F3EBDD"/>
                </a:solidFill>
                <a:latin typeface="Georgia"/>
              </a:rPr>
              <a:t>Vestra</a:t>
            </a:r>
            <a:r>
              <a:rPr sz="11500" b="1" i="0">
                <a:solidFill>
                  <a:srgbClr val="F2953F"/>
                </a:solidFill>
                <a:latin typeface="Georgia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4290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3EBDD"/>
                </a:solidFill>
                <a:latin typeface="Calibri"/>
              </a:rPr>
              <a:t>One closet. Every store.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160520"/>
            <a:ext cx="3383280" cy="54864"/>
          </a:xfrm>
          <a:prstGeom prst="roundRect">
            <a:avLst>
              <a:gd name="adj" fmla="val 0"/>
            </a:avLst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3891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B3A690"/>
                </a:solidFill>
                <a:latin typeface="Calibri"/>
              </a:rPr>
              <a:t>Browse fashion in one place — and always buy at the best price across India's biggest stores.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5440680"/>
            <a:ext cx="1252728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Amazon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95144" y="5440680"/>
            <a:ext cx="1517904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Flipkart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4215" y="5440680"/>
            <a:ext cx="1252728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Myntra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8112" y="5440680"/>
            <a:ext cx="987552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Ajio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6831" y="5440680"/>
            <a:ext cx="1650492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Tata CLiQ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0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3EBDD"/>
                </a:solidFill>
                <a:latin typeface="Georgia"/>
              </a:rPr>
              <a:t>The same jacket,
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1">
                <a:solidFill>
                  <a:srgbClr val="F2953F"/>
                </a:solidFill>
                <a:latin typeface="Georgia"/>
              </a:rPr>
              <a:t>five different prices.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3200400"/>
            <a:ext cx="2377440" cy="169164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12700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Amazon
</a:t>
            </a:r>
            <a:r>
              <a:rPr sz="3400" b="1" i="0">
                <a:solidFill>
                  <a:srgbClr val="F3EBDD"/>
                </a:solidFill>
                <a:latin typeface="Georgia"/>
              </a:rPr>
              <a:t>₹1,540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47288" y="3200400"/>
            <a:ext cx="2377440" cy="169164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12700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Flipkart
</a:t>
            </a:r>
            <a:r>
              <a:rPr sz="3400" b="1" i="0">
                <a:solidFill>
                  <a:srgbClr val="F3EBDD"/>
                </a:solidFill>
                <a:latin typeface="Georgia"/>
              </a:rPr>
              <a:t>₹1,610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53328" y="3200400"/>
            <a:ext cx="2377440" cy="169164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25400">
            <a:solidFill>
              <a:srgbClr val="F29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Myntra
</a:t>
            </a:r>
            <a:r>
              <a:rPr sz="3400" b="1" i="0">
                <a:solidFill>
                  <a:srgbClr val="F2953F"/>
                </a:solidFill>
                <a:latin typeface="Georgia"/>
              </a:rPr>
              <a:t>₹1,499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59368" y="3200400"/>
            <a:ext cx="2377440" cy="169164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12700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Tata CLiQ
</a:t>
            </a:r>
            <a:r>
              <a:rPr sz="3400" b="1" i="0">
                <a:solidFill>
                  <a:srgbClr val="F3EBDD"/>
                </a:solidFill>
                <a:latin typeface="Georgia"/>
              </a:rPr>
              <a:t>₹1,585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578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B3A690"/>
                </a:solidFill>
                <a:latin typeface="Calibri"/>
              </a:rPr>
              <a:t>So which is cheapest? Today you open five tabs and check by hand — and still might overpay.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1"/>
      <p:bldP spid="7" grpId="2"/>
      <p:bldP spid="8" grpId="3"/>
      <p:bldP spid="9" grpId="4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3EBDD"/>
                </a:solidFill>
                <a:latin typeface="Georgia"/>
              </a:rPr>
              <a:t>Browse once. We find the best price.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6048" y="1965960"/>
            <a:ext cx="2286000" cy="640080"/>
          </a:xfrm>
          <a:prstGeom prst="roundRect">
            <a:avLst>
              <a:gd name="adj" fmla="val 35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700" b="1" i="0">
                <a:solidFill>
                  <a:srgbClr val="F3EBDD"/>
                </a:solidFill>
                <a:latin typeface="Calibri"/>
              </a:rPr>
              <a:t>A shopper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697480"/>
            <a:ext cx="0" cy="548640"/>
          </a:xfrm>
          <a:prstGeom prst="line">
            <a:avLst/>
          </a:prstGeom>
          <a:ln w="2540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8848" y="3291840"/>
            <a:ext cx="3200400" cy="960120"/>
          </a:xfrm>
          <a:prstGeom prst="roundRect">
            <a:avLst>
              <a:gd name="adj" fmla="val 18000"/>
            </a:avLst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A120A"/>
                </a:solidFill>
                <a:latin typeface="Georgia"/>
              </a:rPr>
              <a:t>Vestra
</a:t>
            </a:r>
            <a:r>
              <a:rPr sz="1300" b="1" i="0">
                <a:solidFill>
                  <a:srgbClr val="1A120A"/>
                </a:solidFill>
                <a:latin typeface="Calibri"/>
              </a:rPr>
              <a:t>one place to browse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370832"/>
            <a:ext cx="5788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8A7D69"/>
                </a:solidFill>
                <a:latin typeface="Calibri"/>
              </a:rPr>
              <a:t>↓  links you to the cheapest store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8509" y="4983480"/>
            <a:ext cx="1298448" cy="566928"/>
          </a:xfrm>
          <a:prstGeom prst="roundRect">
            <a:avLst>
              <a:gd name="adj" fmla="val 5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9900"/>
                </a:solidFill>
                <a:latin typeface="Calibri"/>
              </a:rPr>
              <a:t>Amazon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8125" y="4983480"/>
            <a:ext cx="1563624" cy="566928"/>
          </a:xfrm>
          <a:prstGeom prst="roundRect">
            <a:avLst>
              <a:gd name="adj" fmla="val 5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4A9BFF"/>
                </a:solidFill>
                <a:latin typeface="Calibri"/>
              </a:rPr>
              <a:t>Flipkart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12917" y="4983480"/>
            <a:ext cx="1298448" cy="566928"/>
          </a:xfrm>
          <a:prstGeom prst="roundRect">
            <a:avLst>
              <a:gd name="adj" fmla="val 5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5F8F"/>
                </a:solidFill>
                <a:latin typeface="Calibri"/>
              </a:rPr>
              <a:t>Myntra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12533" y="4983480"/>
            <a:ext cx="1033271" cy="566928"/>
          </a:xfrm>
          <a:prstGeom prst="roundRect">
            <a:avLst>
              <a:gd name="adj" fmla="val 5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9CB4C4"/>
                </a:solidFill>
                <a:latin typeface="Calibri"/>
              </a:rPr>
              <a:t>Ajio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6973" y="4983480"/>
            <a:ext cx="1696212" cy="566928"/>
          </a:xfrm>
          <a:prstGeom prst="roundRect">
            <a:avLst>
              <a:gd name="adj" fmla="val 5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6B63"/>
                </a:solidFill>
                <a:latin typeface="Calibri"/>
              </a:rPr>
              <a:t>Tata CLiQ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0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" grpId="1"/>
      <p:bldP spid="7" grpId="2"/>
      <p:bldP spid="8" grpId="3"/>
      <p:bldP spid="9" grpId="4"/>
      <p:bldP spid="10" grpId="5"/>
      <p:bldP spid="11" grpId="6"/>
      <p:bldP spid="12" grpId="7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WHAT YOU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3EBDD"/>
                </a:solidFill>
                <a:latin typeface="Georgia"/>
              </a:rPr>
              <a:t>One closet, every store.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2651760"/>
            <a:ext cx="3401568" cy="2834640"/>
          </a:xfrm>
          <a:prstGeom prst="roundRect">
            <a:avLst>
              <a:gd name="adj" fmla="val 9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92608" bIns="0"/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3EBDD"/>
                </a:solidFill>
                <a:latin typeface="Calibri"/>
              </a:rPr>
              <a:t>🛍
</a:t>
            </a:r>
            <a:r>
              <a:rPr sz="2300" b="1" i="0">
                <a:solidFill>
                  <a:srgbClr val="F3EBDD"/>
                </a:solidFill>
                <a:latin typeface="Georgia"/>
              </a:rPr>
              <a:t>One catalogue
</a:t>
            </a:r>
            <a:r>
              <a:rPr sz="1700" b="0" i="0">
                <a:solidFill>
                  <a:srgbClr val="B3A690"/>
                </a:solidFill>
                <a:latin typeface="Calibri"/>
              </a:rPr>
              <a:t>Browse curated fashion in a single, beautiful 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62272" y="2651760"/>
            <a:ext cx="3401568" cy="2834640"/>
          </a:xfrm>
          <a:prstGeom prst="roundRect">
            <a:avLst>
              <a:gd name="adj" fmla="val 9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92608" bIns="0"/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3EBDD"/>
                </a:solidFill>
                <a:latin typeface="Calibri"/>
              </a:rPr>
              <a:t>🏷
</a:t>
            </a:r>
            <a:r>
              <a:rPr sz="2300" b="1" i="0">
                <a:solidFill>
                  <a:srgbClr val="F3EBDD"/>
                </a:solidFill>
                <a:latin typeface="Georgia"/>
              </a:rPr>
              <a:t>The best price
</a:t>
            </a:r>
            <a:r>
              <a:rPr sz="1700" b="0" i="0">
                <a:solidFill>
                  <a:srgbClr val="B3A690"/>
                </a:solidFill>
                <a:latin typeface="Calibri"/>
              </a:rPr>
              <a:t>Every item compared across five stores, automatically.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2651760"/>
            <a:ext cx="3401568" cy="2834640"/>
          </a:xfrm>
          <a:prstGeom prst="roundRect">
            <a:avLst>
              <a:gd name="adj" fmla="val 9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92608" bIns="0"/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3EBDD"/>
                </a:solidFill>
                <a:latin typeface="Calibri"/>
              </a:rPr>
              <a:t>⚡
</a:t>
            </a:r>
            <a:r>
              <a:rPr sz="2300" b="1" i="0">
                <a:solidFill>
                  <a:srgbClr val="F3EBDD"/>
                </a:solidFill>
                <a:latin typeface="Georgia"/>
              </a:rPr>
              <a:t>One tap to buy
</a:t>
            </a:r>
            <a:r>
              <a:rPr sz="1700" b="0" i="0">
                <a:solidFill>
                  <a:srgbClr val="B3A690"/>
                </a:solidFill>
                <a:latin typeface="Calibri"/>
              </a:rPr>
              <a:t>We send you straight to the cheapest checkout.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3EBDD"/>
                </a:solidFill>
                <a:latin typeface="Georgia"/>
              </a:rPr>
              <a:t>From browse to best price, in four steps.</a:t>
            </a:r>
          </a:p>
        </p:txBody>
      </p:sp>
      <p:sp>
        <p:nvSpPr>
          <p:cNvPr id="4" name="Oval 3"/>
          <p:cNvSpPr/>
          <p:nvPr/>
        </p:nvSpPr>
        <p:spPr>
          <a:xfrm>
            <a:off x="1714500" y="2926080"/>
            <a:ext cx="768096" cy="768096"/>
          </a:xfrm>
          <a:prstGeom prst="ellipse">
            <a:avLst/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 i="0">
                <a:solidFill>
                  <a:srgbClr val="1A120A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4048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3EBDD"/>
                </a:solidFill>
                <a:latin typeface="Calibri"/>
              </a:rPr>
              <a:t>Browse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97680"/>
            <a:ext cx="2514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B3A690"/>
                </a:solidFill>
                <a:latin typeface="Calibri"/>
              </a:rPr>
              <a:t>Explore a curated fashion catalogue.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18688" y="3310128"/>
            <a:ext cx="274320" cy="0"/>
          </a:xfrm>
          <a:prstGeom prst="line">
            <a:avLst/>
          </a:prstGeom>
          <a:ln w="2286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411980" y="2926080"/>
            <a:ext cx="768096" cy="768096"/>
          </a:xfrm>
          <a:prstGeom prst="ellipse">
            <a:avLst/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 i="0">
                <a:solidFill>
                  <a:srgbClr val="1A120A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384048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3EBDD"/>
                </a:solidFill>
                <a:latin typeface="Calibri"/>
              </a:rPr>
              <a:t>Pick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4297680"/>
            <a:ext cx="2514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B3A690"/>
                </a:solidFill>
                <a:latin typeface="Calibri"/>
              </a:rPr>
              <a:t>Open any product you like.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6168" y="3310128"/>
            <a:ext cx="274320" cy="0"/>
          </a:xfrm>
          <a:prstGeom prst="line">
            <a:avLst/>
          </a:prstGeom>
          <a:ln w="2286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109460" y="2926080"/>
            <a:ext cx="768096" cy="768096"/>
          </a:xfrm>
          <a:prstGeom prst="ellipse">
            <a:avLst/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 i="0">
                <a:solidFill>
                  <a:srgbClr val="1A120A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84048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3EBDD"/>
                </a:solidFill>
                <a:latin typeface="Calibri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4297680"/>
            <a:ext cx="2514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B3A690"/>
                </a:solidFill>
                <a:latin typeface="Calibri"/>
              </a:rPr>
              <a:t>See its price at every store, side by side.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13648" y="3310128"/>
            <a:ext cx="274320" cy="0"/>
          </a:xfrm>
          <a:prstGeom prst="line">
            <a:avLst/>
          </a:prstGeom>
          <a:ln w="2286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806940" y="2926080"/>
            <a:ext cx="768096" cy="768096"/>
          </a:xfrm>
          <a:prstGeom prst="ellipse">
            <a:avLst/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 i="0">
                <a:solidFill>
                  <a:srgbClr val="1A120A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384048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3EBDD"/>
                </a:solidFill>
                <a:latin typeface="Calibri"/>
              </a:rPr>
              <a:t>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4297680"/>
            <a:ext cx="2514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B3A690"/>
                </a:solidFill>
                <a:latin typeface="Calibri"/>
              </a:rPr>
              <a:t>Tap through to the cheapest one.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0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ntr" presetSubtype="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1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0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1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0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grpId="1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0" grpId="6"/>
      <p:bldP spid="11" grpId="7"/>
      <p:bldP spid="12" grpId="8"/>
      <p:bldP spid="13" grpId="9"/>
      <p:bldP spid="14" grpId="10"/>
      <p:bldP spid="15" grpId="11"/>
      <p:bldP spid="16" grpId="12"/>
      <p:bldP spid="17" grpId="13"/>
      <p:bldP spid="18" grpId="14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HOW IT WORKS ·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3EBDD"/>
                </a:solidFill>
                <a:latin typeface="Georgia"/>
              </a:rPr>
              <a:t>Where the prices come from.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2651760"/>
            <a:ext cx="2286000" cy="1828800"/>
          </a:xfrm>
          <a:prstGeom prst="roundRect">
            <a:avLst>
              <a:gd name="adj" fmla="val 10000"/>
            </a:avLst>
          </a:prstGeom>
          <a:solidFill>
            <a:srgbClr val="1C1710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3EBDD"/>
                </a:solidFill>
                <a:latin typeface="Georgia"/>
              </a:rPr>
              <a:t>Vestra
</a:t>
            </a:r>
            <a:r>
              <a:rPr sz="1400" b="0" i="0">
                <a:solidFill>
                  <a:srgbClr val="B3A690"/>
                </a:solidFill>
                <a:latin typeface="Calibri"/>
              </a:rPr>
              <a:t>runs in
your browser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46120" y="2478024"/>
            <a:ext cx="4709159" cy="0"/>
          </a:xfrm>
          <a:prstGeom prst="line">
            <a:avLst/>
          </a:prstGeom>
          <a:ln w="27940">
            <a:solidFill>
              <a:srgbClr val="F295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394960" y="2359151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92440" y="2276856"/>
            <a:ext cx="1554480" cy="402336"/>
          </a:xfrm>
          <a:prstGeom prst="roundRect">
            <a:avLst>
              <a:gd name="adj" fmla="val 3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FF9900"/>
                </a:solidFill>
                <a:latin typeface="Calibri"/>
              </a:rPr>
              <a:t>Amazon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276856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2953F"/>
                </a:solidFill>
                <a:latin typeface="Georgia"/>
              </a:rPr>
              <a:t>₹1,540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3044952"/>
            <a:ext cx="4709159" cy="0"/>
          </a:xfrm>
          <a:prstGeom prst="line">
            <a:avLst/>
          </a:prstGeom>
          <a:ln w="27940">
            <a:solidFill>
              <a:srgbClr val="F295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532120" y="2926079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843784"/>
            <a:ext cx="1554480" cy="402336"/>
          </a:xfrm>
          <a:prstGeom prst="roundRect">
            <a:avLst>
              <a:gd name="adj" fmla="val 3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4A9BFF"/>
                </a:solidFill>
                <a:latin typeface="Calibri"/>
              </a:rPr>
              <a:t>Flipkart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38360" y="2843784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2953F"/>
                </a:solidFill>
                <a:latin typeface="Georgia"/>
              </a:rPr>
              <a:t>₹1,610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611880"/>
            <a:ext cx="4709159" cy="0"/>
          </a:xfrm>
          <a:prstGeom prst="line">
            <a:avLst/>
          </a:prstGeom>
          <a:ln w="27940">
            <a:solidFill>
              <a:srgbClr val="F295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69280" y="349300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92440" y="3410712"/>
            <a:ext cx="1554480" cy="402336"/>
          </a:xfrm>
          <a:prstGeom prst="roundRect">
            <a:avLst>
              <a:gd name="adj" fmla="val 3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FF5F8F"/>
                </a:solidFill>
                <a:latin typeface="Calibri"/>
              </a:rPr>
              <a:t>Myntra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8360" y="3410712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2953F"/>
                </a:solidFill>
                <a:latin typeface="Georgia"/>
              </a:rPr>
              <a:t>₹1,499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46120" y="4178808"/>
            <a:ext cx="4709159" cy="0"/>
          </a:xfrm>
          <a:prstGeom prst="line">
            <a:avLst/>
          </a:prstGeom>
          <a:ln w="27940">
            <a:solidFill>
              <a:srgbClr val="F295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806440" y="405993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2440" y="3977640"/>
            <a:ext cx="1554480" cy="402336"/>
          </a:xfrm>
          <a:prstGeom prst="roundRect">
            <a:avLst>
              <a:gd name="adj" fmla="val 3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9CB4C4"/>
                </a:solidFill>
                <a:latin typeface="Calibri"/>
              </a:rPr>
              <a:t>Ajio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977640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2953F"/>
                </a:solidFill>
                <a:latin typeface="Georgia"/>
              </a:rPr>
              <a:t>₹1,560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6120" y="4745736"/>
            <a:ext cx="4709159" cy="0"/>
          </a:xfrm>
          <a:prstGeom prst="line">
            <a:avLst/>
          </a:prstGeom>
          <a:ln w="27940">
            <a:solidFill>
              <a:srgbClr val="F295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943600" y="4626864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92440" y="4544568"/>
            <a:ext cx="1554480" cy="402336"/>
          </a:xfrm>
          <a:prstGeom prst="roundRect">
            <a:avLst>
              <a:gd name="adj" fmla="val 3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FF6B63"/>
                </a:solidFill>
                <a:latin typeface="Calibri"/>
              </a:rPr>
              <a:t>Tata CLiQ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4544568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2953F"/>
                </a:solidFill>
                <a:latin typeface="Georgia"/>
              </a:rPr>
              <a:t>₹1,585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2578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B3A690"/>
                </a:solidFill>
                <a:latin typeface="Calibri"/>
              </a:rPr>
              <a:t>For every product, Vestra asks </a:t>
            </a:r>
            <a:r>
              <a:rPr sz="1900" b="1" i="0">
                <a:solidFill>
                  <a:srgbClr val="F3EBDD"/>
                </a:solidFill>
                <a:latin typeface="Calibri"/>
              </a:rPr>
              <a:t>each store</a:t>
            </a:r>
            <a:r>
              <a:rPr sz="1900" b="0" i="0">
                <a:solidFill>
                  <a:srgbClr val="B3A690"/>
                </a:solidFill>
                <a:latin typeface="Calibri"/>
              </a:rPr>
              <a:t>: “what's your price?” — then collects the answers.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8978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7D69"/>
                </a:solidFill>
                <a:latin typeface="Calibri"/>
              </a:rPr>
              <a:t>In this demo the price answers are simulated (stable &amp; realistic) because live retailer APIs need secret keys. The same design plugs into real Amazon/Flipkart pricing feeds behind a secure server — with no change to the app.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0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1"/>
      <p:bldP spid="16" grpId="2"/>
      <p:bldP spid="20" grpId="3"/>
      <p:bldP spid="24" grpId="4"/>
      <p:bldP spid="25" grpId="5"/>
      <p:bldP spid="26" grpId="6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HOW IT WORKS · THE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3EBDD"/>
                </a:solidFill>
                <a:latin typeface="Georgia"/>
              </a:rPr>
              <a:t>How we know which store is cheapest.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3A690"/>
                </a:solidFill>
                <a:latin typeface="Calibri"/>
              </a:rPr>
              <a:t>Comparing one product · </a:t>
            </a:r>
            <a:r>
              <a:rPr sz="1900" b="1" i="0">
                <a:solidFill>
                  <a:srgbClr val="F3EBDD"/>
                </a:solidFill>
                <a:latin typeface="Calibri"/>
              </a:rPr>
              <a:t>Linen Overshirt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468880"/>
            <a:ext cx="2084831" cy="178308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12700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Amazon
</a:t>
            </a:r>
            <a:r>
              <a:rPr sz="3000" b="1" i="0">
                <a:solidFill>
                  <a:srgbClr val="F3EBDD"/>
                </a:solidFill>
                <a:latin typeface="Georgia"/>
              </a:rPr>
              <a:t>₹1,540
</a:t>
            </a:r>
            <a:r>
              <a:rPr sz="1300" b="0" i="0">
                <a:solidFill>
                  <a:srgbClr val="8A7D69"/>
                </a:solidFill>
                <a:latin typeface="Calibri"/>
              </a:rPr>
              <a:t>in stock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99815" y="2468880"/>
            <a:ext cx="2084831" cy="178308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12700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Flipkart
</a:t>
            </a:r>
            <a:r>
              <a:rPr sz="3000" b="1" i="0">
                <a:solidFill>
                  <a:srgbClr val="F3EBDD"/>
                </a:solidFill>
                <a:latin typeface="Georgia"/>
              </a:rPr>
              <a:t>₹1,610
</a:t>
            </a:r>
            <a:r>
              <a:rPr sz="1300" b="0" i="0">
                <a:solidFill>
                  <a:srgbClr val="8A7D69"/>
                </a:solidFill>
                <a:latin typeface="Calibri"/>
              </a:rPr>
              <a:t>in stock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58383" y="2468880"/>
            <a:ext cx="2084831" cy="178308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30480">
            <a:solidFill>
              <a:srgbClr val="F29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Myntra
</a:t>
            </a:r>
            <a:r>
              <a:rPr sz="3000" b="1" i="0">
                <a:solidFill>
                  <a:srgbClr val="F2953F"/>
                </a:solidFill>
                <a:latin typeface="Georgia"/>
              </a:rPr>
              <a:t>₹1,499
</a:t>
            </a:r>
            <a:r>
              <a:rPr sz="1300" b="0" i="0">
                <a:solidFill>
                  <a:srgbClr val="8A7D69"/>
                </a:solidFill>
                <a:latin typeface="Calibri"/>
              </a:rPr>
              <a:t>in stock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59" y="219456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A120A"/>
                </a:solidFill>
                <a:latin typeface="Calibri"/>
              </a:rPr>
              <a:t>★ Best price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6951" y="2468880"/>
            <a:ext cx="2084831" cy="178308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12700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8A7D69"/>
                </a:solidFill>
                <a:latin typeface="Calibri"/>
              </a:rPr>
              <a:t>Ajio
</a:t>
            </a:r>
            <a:r>
              <a:rPr sz="3000" b="1" i="0" strike="sngStrike">
                <a:solidFill>
                  <a:srgbClr val="8A7D69"/>
                </a:solidFill>
                <a:latin typeface="Georgia"/>
              </a:rPr>
              <a:t>₹1,470
</a:t>
            </a:r>
            <a:r>
              <a:rPr sz="1300" b="0" i="0">
                <a:solidFill>
                  <a:srgbClr val="8A7D69"/>
                </a:solidFill>
                <a:latin typeface="Calibri"/>
              </a:rPr>
              <a:t>out of stock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19" y="2468880"/>
            <a:ext cx="2084831" cy="1783080"/>
          </a:xfrm>
          <a:prstGeom prst="roundRect">
            <a:avLst>
              <a:gd name="adj" fmla="val 10000"/>
            </a:avLst>
          </a:prstGeom>
          <a:solidFill>
            <a:srgbClr val="241E16"/>
          </a:solidFill>
          <a:ln w="12700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B3A690"/>
                </a:solidFill>
                <a:latin typeface="Calibri"/>
              </a:rPr>
              <a:t>Tata CLiQ
</a:t>
            </a:r>
            <a:r>
              <a:rPr sz="3000" b="1" i="0">
                <a:solidFill>
                  <a:srgbClr val="F3EBDD"/>
                </a:solidFill>
                <a:latin typeface="Georgia"/>
              </a:rPr>
              <a:t>₹1,585
</a:t>
            </a:r>
            <a:r>
              <a:rPr sz="1300" b="0" i="0">
                <a:solidFill>
                  <a:srgbClr val="8A7D69"/>
                </a:solidFill>
                <a:latin typeface="Calibri"/>
              </a:rPr>
              <a:t>in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09160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3EBDD"/>
                </a:solidFill>
                <a:latin typeface="Calibri"/>
              </a:rPr>
              <a:t>The lowest price that's actually </a:t>
            </a:r>
            <a:r>
              <a:rPr sz="2000" b="1" i="0">
                <a:solidFill>
                  <a:srgbClr val="F2953F"/>
                </a:solidFill>
                <a:latin typeface="Calibri"/>
              </a:rPr>
              <a:t>in stock</a:t>
            </a:r>
            <a:r>
              <a:rPr sz="2000" b="0" i="0">
                <a:solidFill>
                  <a:srgbClr val="F3EBDD"/>
                </a:solidFill>
                <a:latin typeface="Calibri"/>
              </a:rPr>
              <a:t> wins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709160"/>
            <a:ext cx="3200400" cy="713232"/>
          </a:xfrm>
          <a:prstGeom prst="roundRect">
            <a:avLst>
              <a:gd name="adj" fmla="val 50000"/>
            </a:avLst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700" b="1" i="0">
                <a:solidFill>
                  <a:srgbClr val="1A120A"/>
                </a:solidFill>
                <a:latin typeface="Calibri"/>
              </a:rPr>
              <a:t>Buy on Myntra · ₹1,499 ↗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0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1"/>
      <p:bldP spid="7" grpId="2"/>
      <p:bldP spid="9" grpId="3"/>
      <p:bldP spid="10" grpId="4"/>
      <p:bldP spid="8" grpId="5"/>
      <p:bldP spid="11" grpId="6"/>
      <p:bldP spid="12" grpId="7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THE TECHNOLOGY, IN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3EBDD"/>
                </a:solidFill>
                <a:latin typeface="Georgia"/>
              </a:rPr>
              <a:t>Every store speaks differently.
We built a translator for each.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2880360"/>
            <a:ext cx="2286000" cy="1920240"/>
          </a:xfrm>
          <a:prstGeom prst="roundRect">
            <a:avLst>
              <a:gd name="adj" fmla="val 12000"/>
            </a:avLst>
          </a:prstGeom>
          <a:solidFill>
            <a:srgbClr val="F29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A120A"/>
                </a:solidFill>
                <a:latin typeface="Georgia"/>
              </a:rPr>
              <a:t>Vestra
core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00400" y="3044952"/>
            <a:ext cx="594360" cy="0"/>
          </a:xfrm>
          <a:prstGeom prst="line">
            <a:avLst/>
          </a:prstGeom>
          <a:ln w="2286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86200" y="2788920"/>
            <a:ext cx="6309360" cy="512064"/>
          </a:xfrm>
          <a:prstGeom prst="roundRect">
            <a:avLst>
              <a:gd name="adj" fmla="val 2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0" tIns="0" bIns="0"/>
          <a:lstStyle/>
          <a:p>
            <a:pPr algn="l"/>
            <a:r>
              <a:rPr sz="1700" b="1" i="0">
                <a:solidFill>
                  <a:srgbClr val="F3EBDD"/>
                </a:solidFill>
                <a:latin typeface="Calibri"/>
              </a:rPr>
              <a:t>🔌  Amazon adapter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843784"/>
            <a:ext cx="2468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0" i="1">
                <a:solidFill>
                  <a:srgbClr val="B3A690"/>
                </a:solidFill>
                <a:latin typeface="Georgia"/>
              </a:rPr>
              <a:t>?k=linen shirt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3648456"/>
            <a:ext cx="594360" cy="0"/>
          </a:xfrm>
          <a:prstGeom prst="line">
            <a:avLst/>
          </a:prstGeom>
          <a:ln w="2286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86200" y="3392424"/>
            <a:ext cx="6309360" cy="512064"/>
          </a:xfrm>
          <a:prstGeom prst="roundRect">
            <a:avLst>
              <a:gd name="adj" fmla="val 2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0" tIns="0" bIns="0"/>
          <a:lstStyle/>
          <a:p>
            <a:pPr algn="l"/>
            <a:r>
              <a:rPr sz="1700" b="1" i="0">
                <a:solidFill>
                  <a:srgbClr val="F3EBDD"/>
                </a:solidFill>
                <a:latin typeface="Calibri"/>
              </a:rPr>
              <a:t>🔌  Myntra adapter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3447288"/>
            <a:ext cx="2468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0" i="1">
                <a:solidFill>
                  <a:srgbClr val="B3A690"/>
                </a:solidFill>
                <a:latin typeface="Georgia"/>
              </a:rPr>
              <a:t>/linen-shirt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4251960"/>
            <a:ext cx="594360" cy="0"/>
          </a:xfrm>
          <a:prstGeom prst="line">
            <a:avLst/>
          </a:prstGeom>
          <a:ln w="2286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86200" y="3995928"/>
            <a:ext cx="6309360" cy="512064"/>
          </a:xfrm>
          <a:prstGeom prst="roundRect">
            <a:avLst>
              <a:gd name="adj" fmla="val 2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0" tIns="0" bIns="0"/>
          <a:lstStyle/>
          <a:p>
            <a:pPr algn="l"/>
            <a:r>
              <a:rPr sz="1700" b="1" i="0">
                <a:solidFill>
                  <a:srgbClr val="F3EBDD"/>
                </a:solidFill>
                <a:latin typeface="Calibri"/>
              </a:rPr>
              <a:t>🔌  Flipkart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050791"/>
            <a:ext cx="2468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0" i="1">
                <a:solidFill>
                  <a:srgbClr val="B3A690"/>
                </a:solidFill>
                <a:latin typeface="Georgia"/>
              </a:rPr>
              <a:t>/search?q=…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4855464"/>
            <a:ext cx="594360" cy="0"/>
          </a:xfrm>
          <a:prstGeom prst="line">
            <a:avLst/>
          </a:prstGeom>
          <a:ln w="22860">
            <a:solidFill>
              <a:srgbClr val="8A7D6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86200" y="4599432"/>
            <a:ext cx="6309360" cy="512064"/>
          </a:xfrm>
          <a:prstGeom prst="roundRect">
            <a:avLst>
              <a:gd name="adj" fmla="val 20000"/>
            </a:avLst>
          </a:prstGeom>
          <a:solidFill>
            <a:srgbClr val="241E16"/>
          </a:solidFill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0" tIns="0" bIns="0"/>
          <a:lstStyle/>
          <a:p>
            <a:pPr algn="l"/>
            <a:r>
              <a:rPr sz="1700" b="1" i="0">
                <a:solidFill>
                  <a:srgbClr val="F3EBDD"/>
                </a:solidFill>
                <a:latin typeface="Calibri"/>
              </a:rPr>
              <a:t>🔌  …and any new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53212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3A690"/>
                </a:solidFill>
                <a:latin typeface="Calibri"/>
              </a:rPr>
              <a:t>Each “adapter” hides one store's quirks — so </a:t>
            </a:r>
            <a:r>
              <a:rPr sz="1800" b="1" i="0">
                <a:solidFill>
                  <a:srgbClr val="F3EBDD"/>
                </a:solidFill>
                <a:latin typeface="Calibri"/>
              </a:rPr>
              <a:t>adding a new store is a one-line change</a:t>
            </a:r>
            <a:r>
              <a:rPr sz="1800" b="0" i="0">
                <a:solidFill>
                  <a:srgbClr val="B3A690"/>
                </a:solidFill>
                <a:latin typeface="Calibri"/>
              </a:rPr>
              <a:t>, and the rest of the app never notices.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1"/>
      <p:bldP spid="12" grpId="2"/>
      <p:bldP spid="15" grpId="3"/>
      <p:bldP spid="16" grpId="4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1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F2953F"/>
                </a:solidFill>
                <a:latin typeface="Calibri"/>
              </a:rPr>
              <a:t>VESTRA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3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7800" b="1" i="0">
                <a:solidFill>
                  <a:srgbClr val="F3EBDD"/>
                </a:solidFill>
                <a:latin typeface="Georgia"/>
              </a:rPr>
              <a:t>One closet.
Every store.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B3A690"/>
                </a:solidFill>
                <a:latin typeface="Calibri"/>
              </a:rPr>
              <a:t>Browse everywhere. Buy at the best price.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62809" y="5257800"/>
            <a:ext cx="1252728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Amazon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6705" y="5257800"/>
            <a:ext cx="1517904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Flipkart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35777" y="5257800"/>
            <a:ext cx="1252728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Myntra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9673" y="5257800"/>
            <a:ext cx="987552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Ajio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8393" y="5257800"/>
            <a:ext cx="1650492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0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 i="0">
                <a:solidFill>
                  <a:srgbClr val="B3A690"/>
                </a:solidFill>
                <a:latin typeface="Calibri"/>
              </a:rPr>
              <a:t>Tata CLiQ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0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